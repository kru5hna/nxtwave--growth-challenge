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embeddedFontLst>
    <p:embeddedFont>
      <p:font typeface="Space Grotesk" pitchFamily="34" charset="0"/>
      <p:regular r:id="rId12"/>
      <p:bold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font" Target="fonts/font1.fntdata"/><Relationship Id="rId13"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0B1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42" y="812743"/>
            <a:ext cx="10566515" cy="502920"/>
          </a:xfrm>
          <a:prstGeom prst="rect">
            <a:avLst/>
          </a:prstGeom>
          <a:noFill/>
          <a:ln/>
        </p:spPr>
        <p:txBody>
          <a:bodyPr wrap="square" lIns="0" tIns="0" rIns="0" bIns="0" rtlCol="0" anchor="t"/>
          <a:lstStyle>
            <a:lvl1pPr algn="l" indent="0" marL="0">
              <a:lnSpc>
                <a:spcPct val="115000"/>
              </a:lnSpc>
              <a:buNone/>
              <a:defRPr lang="en-US" sz="3600" dirty="0">
                <a:solidFill>
                  <a:srgbClr val="FFF7E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42" y="1620463"/>
            <a:ext cx="10566458" cy="4424737"/>
          </a:xfrm>
          <a:prstGeom prst="rect">
            <a:avLst/>
          </a:prstGeom>
          <a:noFill/>
          <a:ln/>
        </p:spPr>
        <p:txBody>
          <a:bodyPr wrap="square" lIns="0" tIns="0" rIns="0" bIns="0" rtlCol="0" anchor="t"/>
          <a:lstStyle>
            <a:lvl1pPr algn="l" indent="0" marL="0">
              <a:lnSpc>
                <a:spcPct val="140000"/>
              </a:lnSpc>
              <a:buNone/>
              <a:defRPr lang="en-US" sz="1600" dirty="0">
                <a:solidFill>
                  <a:srgbClr val="FFF7ED"/>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0B1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42" y="812743"/>
            <a:ext cx="10566515" cy="502920"/>
          </a:xfrm>
          <a:prstGeom prst="rect">
            <a:avLst/>
          </a:prstGeom>
          <a:noFill/>
          <a:ln/>
        </p:spPr>
        <p:txBody>
          <a:bodyPr wrap="square" lIns="0" tIns="0" rIns="0" bIns="0" rtlCol="0" anchor="t"/>
          <a:lstStyle>
            <a:lvl1pPr algn="l" indent="0" marL="0">
              <a:lnSpc>
                <a:spcPct val="115000"/>
              </a:lnSpc>
              <a:buNone/>
              <a:defRPr lang="en-US" sz="3600" dirty="0">
                <a:solidFill>
                  <a:srgbClr val="FFF7E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42" y="1620463"/>
            <a:ext cx="10566458" cy="4424737"/>
          </a:xfrm>
          <a:prstGeom prst="rect">
            <a:avLst/>
          </a:prstGeom>
          <a:noFill/>
          <a:ln/>
        </p:spPr>
        <p:txBody>
          <a:bodyPr wrap="square" lIns="0" tIns="0" rIns="0" bIns="0" rtlCol="0" anchor="t"/>
          <a:lstStyle>
            <a:lvl1pPr algn="l" indent="0" marL="0">
              <a:lnSpc>
                <a:spcPct val="140000"/>
              </a:lnSpc>
              <a:buNone/>
              <a:defRPr lang="en-US" sz="1600" dirty="0">
                <a:solidFill>
                  <a:srgbClr val="FFF7ED"/>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B1A"/>
        </a:solidFill>
      </p:bgPr>
    </p:bg>
    <p:spTree>
      <p:nvGrpSpPr>
        <p:cNvPr id="1" name=""/>
        <p:cNvGrpSpPr/>
        <p:nvPr/>
      </p:nvGrpSpPr>
      <p:grpSpPr>
        <a:xfrm>
          <a:off x="0" y="0"/>
          <a:ext cx="0" cy="0"/>
          <a:chOff x="0" y="0"/>
          <a:chExt cx="0" cy="0"/>
        </a:xfrm>
      </p:grpSpPr>
      <p:sp>
        <p:nvSpPr>
          <p:cNvPr id="2" name="Text 0"/>
          <p:cNvSpPr/>
          <p:nvPr/>
        </p:nvSpPr>
        <p:spPr>
          <a:xfrm>
            <a:off x="812742" y="812742"/>
            <a:ext cx="108835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6B35"/>
                </a:solidFill>
                <a:latin typeface="Space Grotesk" pitchFamily="34" charset="0"/>
                <a:ea typeface="Space Grotesk" pitchFamily="34" charset="-122"/>
                <a:cs typeface="Space Grotesk" pitchFamily="34" charset="-120"/>
              </a:rPr>
              <a:t>NXTWAVE GROWTH CHALLENGE · ROUND 1</a:t>
            </a:r>
            <a:endParaRPr lang="en-US" sz="1200" dirty="0"/>
          </a:p>
        </p:txBody>
      </p:sp>
      <p:sp>
        <p:nvSpPr>
          <p:cNvPr id="3" name="Text 1"/>
          <p:cNvSpPr/>
          <p:nvPr>
            <p:ph type="title"/>
          </p:nvPr>
        </p:nvSpPr>
        <p:spPr>
          <a:xfrm>
            <a:off x="812742" y="1178502"/>
            <a:ext cx="10883510" cy="1254644"/>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FF7ED"/>
                </a:solidFill>
                <a:latin typeface="Space Grotesk" pitchFamily="34" charset="0"/>
                <a:ea typeface="Space Grotesk" pitchFamily="34" charset="-122"/>
                <a:cs typeface="Space Grotesk" pitchFamily="34" charset="-120"/>
              </a:rPr>
              <a:t>500 final-year engineers, </a:t>
            </a:r>
            <a:r>
              <a:rPr lang="en-US" sz="4400" b="1" i="0" dirty="0">
                <a:solidFill>
                  <a:srgbClr val="FF6B35"/>
                </a:solidFill>
                <a:latin typeface="Space Grotesk" pitchFamily="34" charset="0"/>
                <a:ea typeface="Space Grotesk" pitchFamily="34" charset="-122"/>
                <a:cs typeface="Space Grotesk" pitchFamily="34" charset="-120"/>
              </a:rPr>
              <a:t>7 days</a:t>
            </a:r>
            <a:r>
              <a:rPr lang="en-US" sz="4400" b="1" i="0" dirty="0">
                <a:solidFill>
                  <a:srgbClr val="FFF7ED"/>
                </a:solidFill>
                <a:latin typeface="Space Grotesk" pitchFamily="34" charset="0"/>
                <a:ea typeface="Space Grotesk" pitchFamily="34" charset="-122"/>
                <a:cs typeface="Space Grotesk" pitchFamily="34" charset="-120"/>
              </a:rPr>
              <a:t>, ₹2,000</a:t>
            </a:r>
            <a:endParaRPr lang="en-US" sz="4400" dirty="0"/>
          </a:p>
        </p:txBody>
      </p:sp>
      <p:sp>
        <p:nvSpPr>
          <p:cNvPr id="4" name="Shape 2"/>
          <p:cNvSpPr/>
          <p:nvPr/>
        </p:nvSpPr>
        <p:spPr>
          <a:xfrm>
            <a:off x="815917" y="3974926"/>
            <a:ext cx="3380393" cy="1863927"/>
          </a:xfrm>
          <a:prstGeom prst="roundRect">
            <a:avLst>
              <a:gd name="adj" fmla="val 6643"/>
            </a:avLst>
          </a:prstGeom>
          <a:solidFill>
            <a:srgbClr val="1A1428"/>
          </a:solidFill>
          <a:ln w="6350">
            <a:solidFill>
              <a:srgbClr val="2E2444"/>
            </a:solidFill>
            <a:prstDash val="solid"/>
          </a:ln>
        </p:spPr>
      </p:sp>
      <p:sp>
        <p:nvSpPr>
          <p:cNvPr id="5" name="Text 3"/>
          <p:cNvSpPr/>
          <p:nvPr/>
        </p:nvSpPr>
        <p:spPr>
          <a:xfrm>
            <a:off x="1072255" y="4231265"/>
            <a:ext cx="2953749" cy="20828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FF6B35"/>
                </a:solidFill>
                <a:latin typeface="Space Grotesk" pitchFamily="34" charset="0"/>
                <a:ea typeface="Space Grotesk" pitchFamily="34" charset="-122"/>
                <a:cs typeface="Space Grotesk" pitchFamily="34" charset="-120"/>
              </a:rPr>
              <a:t>WHO</a:t>
            </a:r>
            <a:endParaRPr lang="en-US" sz="1200" dirty="0"/>
          </a:p>
        </p:txBody>
      </p:sp>
      <p:sp>
        <p:nvSpPr>
          <p:cNvPr id="6" name="Text 4"/>
          <p:cNvSpPr/>
          <p:nvPr/>
        </p:nvSpPr>
        <p:spPr>
          <a:xfrm>
            <a:off x="1072255" y="4515715"/>
            <a:ext cx="2953749"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DFEF"/>
                </a:solidFill>
                <a:latin typeface="Space Grotesk" pitchFamily="34" charset="0"/>
                <a:ea typeface="Space Grotesk" pitchFamily="34" charset="-122"/>
                <a:cs typeface="Space Grotesk" pitchFamily="34" charset="-120"/>
              </a:rPr>
              <a:t>Final-year B.Tech students at tier-2 and tier-3 colleges, close to placement season with no AI project to show.</a:t>
            </a:r>
            <a:endParaRPr lang="en-US" sz="1500" dirty="0"/>
          </a:p>
        </p:txBody>
      </p:sp>
      <p:sp>
        <p:nvSpPr>
          <p:cNvPr id="7" name="Shape 5"/>
          <p:cNvSpPr/>
          <p:nvPr/>
        </p:nvSpPr>
        <p:spPr>
          <a:xfrm>
            <a:off x="4405803" y="3974926"/>
            <a:ext cx="3380393" cy="1863927"/>
          </a:xfrm>
          <a:prstGeom prst="roundRect">
            <a:avLst>
              <a:gd name="adj" fmla="val 6643"/>
            </a:avLst>
          </a:prstGeom>
          <a:solidFill>
            <a:srgbClr val="1A1428"/>
          </a:solidFill>
          <a:ln w="6350">
            <a:solidFill>
              <a:srgbClr val="2E2444"/>
            </a:solidFill>
            <a:prstDash val="solid"/>
          </a:ln>
        </p:spPr>
      </p:sp>
      <p:sp>
        <p:nvSpPr>
          <p:cNvPr id="8" name="Text 6"/>
          <p:cNvSpPr/>
          <p:nvPr/>
        </p:nvSpPr>
        <p:spPr>
          <a:xfrm>
            <a:off x="4662141" y="4231265"/>
            <a:ext cx="2953749" cy="20828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FF6B35"/>
                </a:solidFill>
                <a:latin typeface="Space Grotesk" pitchFamily="34" charset="0"/>
                <a:ea typeface="Space Grotesk" pitchFamily="34" charset="-122"/>
                <a:cs typeface="Space Grotesk" pitchFamily="34" charset="-120"/>
              </a:rPr>
              <a:t>WHY THEY CARE</a:t>
            </a:r>
            <a:endParaRPr lang="en-US" sz="1200" dirty="0"/>
          </a:p>
        </p:txBody>
      </p:sp>
      <p:sp>
        <p:nvSpPr>
          <p:cNvPr id="9" name="Text 7"/>
          <p:cNvSpPr/>
          <p:nvPr/>
        </p:nvSpPr>
        <p:spPr>
          <a:xfrm>
            <a:off x="4662141" y="4515715"/>
            <a:ext cx="295374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DFEF"/>
                </a:solidFill>
                <a:latin typeface="Space Grotesk" pitchFamily="34" charset="0"/>
                <a:ea typeface="Space Grotesk" pitchFamily="34" charset="-122"/>
                <a:cs typeface="Space Grotesk" pitchFamily="34" charset="-120"/>
              </a:rPr>
              <a:t>Recruiters now ask what you have built with AI. Most students have only theory.</a:t>
            </a:r>
            <a:endParaRPr lang="en-US" sz="1500" dirty="0"/>
          </a:p>
        </p:txBody>
      </p:sp>
      <p:sp>
        <p:nvSpPr>
          <p:cNvPr id="10" name="Shape 8"/>
          <p:cNvSpPr/>
          <p:nvPr/>
        </p:nvSpPr>
        <p:spPr>
          <a:xfrm>
            <a:off x="7995689" y="3974926"/>
            <a:ext cx="3380393" cy="1863927"/>
          </a:xfrm>
          <a:prstGeom prst="roundRect">
            <a:avLst>
              <a:gd name="adj" fmla="val 6643"/>
            </a:avLst>
          </a:prstGeom>
          <a:solidFill>
            <a:srgbClr val="1A1428"/>
          </a:solidFill>
          <a:ln w="6350">
            <a:solidFill>
              <a:srgbClr val="2E2444"/>
            </a:solidFill>
            <a:prstDash val="solid"/>
          </a:ln>
        </p:spPr>
      </p:sp>
      <p:sp>
        <p:nvSpPr>
          <p:cNvPr id="11" name="Text 9"/>
          <p:cNvSpPr/>
          <p:nvPr/>
        </p:nvSpPr>
        <p:spPr>
          <a:xfrm>
            <a:off x="8252027" y="4231265"/>
            <a:ext cx="2953749" cy="20828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FF6B35"/>
                </a:solidFill>
                <a:latin typeface="Space Grotesk" pitchFamily="34" charset="0"/>
                <a:ea typeface="Space Grotesk" pitchFamily="34" charset="-122"/>
                <a:cs typeface="Space Grotesk" pitchFamily="34" charset="-120"/>
              </a:rPr>
              <a:t>WHY THEY REGISTER</a:t>
            </a:r>
            <a:endParaRPr lang="en-US" sz="1200" dirty="0"/>
          </a:p>
        </p:txBody>
      </p:sp>
      <p:sp>
        <p:nvSpPr>
          <p:cNvPr id="12" name="Text 10"/>
          <p:cNvSpPr/>
          <p:nvPr/>
        </p:nvSpPr>
        <p:spPr>
          <a:xfrm>
            <a:off x="8252027" y="4515715"/>
            <a:ext cx="2953749"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DFEF"/>
                </a:solidFill>
                <a:latin typeface="Space Grotesk" pitchFamily="34" charset="0"/>
                <a:ea typeface="Space Grotesk" pitchFamily="34" charset="-122"/>
                <a:cs typeface="Space Grotesk" pitchFamily="34" charset="-120"/>
              </a:rPr>
              <a:t>Free, 60 minutes, no AI experience needed, a certificate, and a link their class group will forward.</a:t>
            </a:r>
            <a:endParaRPr lang="en-US" sz="1500" dirty="0"/>
          </a:p>
        </p:txBody>
      </p:sp>
      <p:sp>
        <p:nvSpPr>
          <p:cNvPr id="13" name="Text 11"/>
          <p:cNvSpPr/>
          <p:nvPr/>
        </p:nvSpPr>
        <p:spPr>
          <a:xfrm>
            <a:off x="812742" y="6238268"/>
            <a:ext cx="108833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93AB"/>
                </a:solidFill>
                <a:latin typeface="Space Grotesk" pitchFamily="34" charset="0"/>
                <a:ea typeface="Space Grotesk" pitchFamily="34" charset="-122"/>
                <a:cs typeface="Space Grotesk" pitchFamily="34" charset="-120"/>
              </a:rPr>
              <a:t>Targets in this plan are planning assumptions, not measured results · 1 / 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B1A"/>
        </a:solidFill>
      </p:bgPr>
    </p:bg>
    <p:spTree>
      <p:nvGrpSpPr>
        <p:cNvPr id="1" name=""/>
        <p:cNvGrpSpPr/>
        <p:nvPr/>
      </p:nvGrpSpPr>
      <p:grpSpPr>
        <a:xfrm>
          <a:off x="0" y="0"/>
          <a:ext cx="0" cy="0"/>
          <a:chOff x="0" y="0"/>
          <a:chExt cx="0" cy="0"/>
        </a:xfrm>
      </p:grpSpPr>
      <p:sp>
        <p:nvSpPr>
          <p:cNvPr id="2" name="Text 0"/>
          <p:cNvSpPr/>
          <p:nvPr>
            <p:ph type="title"/>
          </p:nvPr>
        </p:nvSpPr>
        <p:spPr>
          <a:xfrm>
            <a:off x="812742" y="812743"/>
            <a:ext cx="1088351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F7ED"/>
                </a:solidFill>
                <a:latin typeface="Space Grotesk" pitchFamily="34" charset="0"/>
                <a:ea typeface="Space Grotesk" pitchFamily="34" charset="-122"/>
                <a:cs typeface="Space Grotesk" pitchFamily="34" charset="-120"/>
              </a:rPr>
              <a:t>Referrals beat paid ads at ₹2,000</a:t>
            </a:r>
            <a:endParaRPr lang="en-US" sz="3600" dirty="0"/>
          </a:p>
        </p:txBody>
      </p:sp>
      <p:sp>
        <p:nvSpPr>
          <p:cNvPr id="3" name="Shape 1"/>
          <p:cNvSpPr/>
          <p:nvPr/>
        </p:nvSpPr>
        <p:spPr>
          <a:xfrm>
            <a:off x="815917" y="1623637"/>
            <a:ext cx="5175336" cy="1597227"/>
          </a:xfrm>
          <a:prstGeom prst="roundRect">
            <a:avLst>
              <a:gd name="adj" fmla="val 7752"/>
            </a:avLst>
          </a:prstGeom>
          <a:solidFill>
            <a:srgbClr val="1A1428"/>
          </a:solidFill>
          <a:ln w="6350">
            <a:solidFill>
              <a:srgbClr val="2E2444"/>
            </a:solidFill>
            <a:prstDash val="solid"/>
          </a:ln>
        </p:spPr>
      </p:sp>
      <p:sp>
        <p:nvSpPr>
          <p:cNvPr id="4" name="Text 2"/>
          <p:cNvSpPr/>
          <p:nvPr/>
        </p:nvSpPr>
        <p:spPr>
          <a:xfrm>
            <a:off x="1072255" y="1879975"/>
            <a:ext cx="4802540" cy="20828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FF6B35"/>
                </a:solidFill>
                <a:latin typeface="Space Grotesk" pitchFamily="34" charset="0"/>
                <a:ea typeface="Space Grotesk" pitchFamily="34" charset="-122"/>
                <a:cs typeface="Space Grotesk" pitchFamily="34" charset="-120"/>
              </a:rPr>
              <a:t>PAID ADS (ASSUMED ₹10–15 PER CLICK)</a:t>
            </a:r>
            <a:endParaRPr lang="en-US" sz="1200" dirty="0"/>
          </a:p>
        </p:txBody>
      </p:sp>
      <p:sp>
        <p:nvSpPr>
          <p:cNvPr id="5" name="Text 3"/>
          <p:cNvSpPr/>
          <p:nvPr/>
        </p:nvSpPr>
        <p:spPr>
          <a:xfrm>
            <a:off x="1072255" y="2164427"/>
            <a:ext cx="480254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DFEF"/>
                </a:solidFill>
                <a:latin typeface="Space Grotesk" pitchFamily="34" charset="0"/>
                <a:ea typeface="Space Grotesk" pitchFamily="34" charset="-122"/>
                <a:cs typeface="Space Grotesk" pitchFamily="34" charset="-120"/>
              </a:rPr>
              <a:t>About 130–200 clicks. At a 25% sign-up rate that is roughly 35–50 registrations, far short of 500.</a:t>
            </a:r>
            <a:endParaRPr lang="en-US" sz="1500" dirty="0"/>
          </a:p>
        </p:txBody>
      </p:sp>
      <p:sp>
        <p:nvSpPr>
          <p:cNvPr id="6" name="Shape 4"/>
          <p:cNvSpPr/>
          <p:nvPr/>
        </p:nvSpPr>
        <p:spPr>
          <a:xfrm>
            <a:off x="6200746" y="1623637"/>
            <a:ext cx="5175336" cy="1597227"/>
          </a:xfrm>
          <a:prstGeom prst="roundRect">
            <a:avLst>
              <a:gd name="adj" fmla="val 7752"/>
            </a:avLst>
          </a:prstGeom>
          <a:solidFill>
            <a:srgbClr val="1A1428"/>
          </a:solidFill>
          <a:ln w="6350">
            <a:solidFill>
              <a:srgbClr val="FF6B35"/>
            </a:solidFill>
            <a:prstDash val="solid"/>
          </a:ln>
        </p:spPr>
      </p:sp>
      <p:sp>
        <p:nvSpPr>
          <p:cNvPr id="7" name="Text 5"/>
          <p:cNvSpPr/>
          <p:nvPr/>
        </p:nvSpPr>
        <p:spPr>
          <a:xfrm>
            <a:off x="6457084" y="1879975"/>
            <a:ext cx="4802540" cy="20828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FF6B35"/>
                </a:solidFill>
                <a:latin typeface="Space Grotesk" pitchFamily="34" charset="0"/>
                <a:ea typeface="Space Grotesk" pitchFamily="34" charset="-122"/>
                <a:cs typeface="Space Grotesk" pitchFamily="34" charset="-120"/>
              </a:rPr>
              <a:t>PEER REFERRALS ON WHATSAPP</a:t>
            </a:r>
            <a:endParaRPr lang="en-US" sz="1200" dirty="0"/>
          </a:p>
        </p:txBody>
      </p:sp>
      <p:sp>
        <p:nvSpPr>
          <p:cNvPr id="8" name="Text 6"/>
          <p:cNvSpPr/>
          <p:nvPr/>
        </p:nvSpPr>
        <p:spPr>
          <a:xfrm>
            <a:off x="6457084" y="2164427"/>
            <a:ext cx="480254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DFEF"/>
                </a:solidFill>
                <a:latin typeface="Space Grotesk" pitchFamily="34" charset="0"/>
                <a:ea typeface="Space Grotesk" pitchFamily="34" charset="-122"/>
                <a:cs typeface="Space Grotesk" pitchFamily="34" charset="-120"/>
              </a:rPr>
              <a:t>Students already trust their class groups. Every registrant gets a personal link to forward, so each sign-up can bring in more.</a:t>
            </a:r>
            <a:endParaRPr lang="en-US" sz="1500" dirty="0"/>
          </a:p>
        </p:txBody>
      </p:sp>
      <p:sp>
        <p:nvSpPr>
          <p:cNvPr id="9" name="Shape 7"/>
          <p:cNvSpPr/>
          <p:nvPr/>
        </p:nvSpPr>
        <p:spPr>
          <a:xfrm>
            <a:off x="815917" y="3532015"/>
            <a:ext cx="2520979" cy="1152583"/>
          </a:xfrm>
          <a:prstGeom prst="roundRect">
            <a:avLst>
              <a:gd name="adj" fmla="val 10743"/>
            </a:avLst>
          </a:prstGeom>
          <a:solidFill>
            <a:srgbClr val="1A1428"/>
          </a:solidFill>
          <a:ln w="6350">
            <a:solidFill>
              <a:srgbClr val="2E2444"/>
            </a:solidFill>
            <a:prstDash val="solid"/>
          </a:ln>
        </p:spPr>
      </p:sp>
      <p:sp>
        <p:nvSpPr>
          <p:cNvPr id="10" name="Text 8"/>
          <p:cNvSpPr/>
          <p:nvPr/>
        </p:nvSpPr>
        <p:spPr>
          <a:xfrm>
            <a:off x="1021426" y="3737524"/>
            <a:ext cx="2173259" cy="41653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C857"/>
                </a:solidFill>
                <a:latin typeface="Space Grotesk" pitchFamily="34" charset="0"/>
                <a:ea typeface="Space Grotesk" pitchFamily="34" charset="-122"/>
                <a:cs typeface="Space Grotesk" pitchFamily="34" charset="-120"/>
              </a:rPr>
              <a:t>1</a:t>
            </a:r>
            <a:endParaRPr lang="en-US" sz="2200" dirty="0"/>
          </a:p>
        </p:txBody>
      </p:sp>
      <p:sp>
        <p:nvSpPr>
          <p:cNvPr id="11" name="Text 9"/>
          <p:cNvSpPr/>
          <p:nvPr/>
        </p:nvSpPr>
        <p:spPr>
          <a:xfrm>
            <a:off x="1021426" y="4230226"/>
            <a:ext cx="2173259" cy="27426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7ED"/>
                </a:solidFill>
                <a:latin typeface="Space Grotesk" pitchFamily="34" charset="0"/>
                <a:ea typeface="Space Grotesk" pitchFamily="34" charset="-122"/>
                <a:cs typeface="Space Grotesk" pitchFamily="34" charset="-120"/>
              </a:rPr>
              <a:t>Register</a:t>
            </a:r>
            <a:endParaRPr lang="en-US" sz="1400" dirty="0"/>
          </a:p>
        </p:txBody>
      </p:sp>
      <p:sp>
        <p:nvSpPr>
          <p:cNvPr id="12" name="Shape 10"/>
          <p:cNvSpPr/>
          <p:nvPr/>
        </p:nvSpPr>
        <p:spPr>
          <a:xfrm>
            <a:off x="3495646" y="3532015"/>
            <a:ext cx="2520979" cy="1152583"/>
          </a:xfrm>
          <a:prstGeom prst="roundRect">
            <a:avLst>
              <a:gd name="adj" fmla="val 10743"/>
            </a:avLst>
          </a:prstGeom>
          <a:solidFill>
            <a:srgbClr val="1A1428"/>
          </a:solidFill>
          <a:ln w="6350">
            <a:solidFill>
              <a:srgbClr val="2E2444"/>
            </a:solidFill>
            <a:prstDash val="solid"/>
          </a:ln>
        </p:spPr>
      </p:sp>
      <p:sp>
        <p:nvSpPr>
          <p:cNvPr id="13" name="Text 11"/>
          <p:cNvSpPr/>
          <p:nvPr/>
        </p:nvSpPr>
        <p:spPr>
          <a:xfrm>
            <a:off x="3701155" y="3737524"/>
            <a:ext cx="2173259" cy="41653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C857"/>
                </a:solidFill>
                <a:latin typeface="Space Grotesk" pitchFamily="34" charset="0"/>
                <a:ea typeface="Space Grotesk" pitchFamily="34" charset="-122"/>
                <a:cs typeface="Space Grotesk" pitchFamily="34" charset="-120"/>
              </a:rPr>
              <a:t>2</a:t>
            </a:r>
            <a:endParaRPr lang="en-US" sz="2200" dirty="0"/>
          </a:p>
        </p:txBody>
      </p:sp>
      <p:sp>
        <p:nvSpPr>
          <p:cNvPr id="14" name="Text 12"/>
          <p:cNvSpPr/>
          <p:nvPr/>
        </p:nvSpPr>
        <p:spPr>
          <a:xfrm>
            <a:off x="3701155" y="4230226"/>
            <a:ext cx="2173259" cy="27426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7ED"/>
                </a:solidFill>
                <a:latin typeface="Space Grotesk" pitchFamily="34" charset="0"/>
                <a:ea typeface="Space Grotesk" pitchFamily="34" charset="-122"/>
                <a:cs typeface="Space Grotesk" pitchFamily="34" charset="-120"/>
              </a:rPr>
              <a:t>Get a personal link</a:t>
            </a:r>
            <a:endParaRPr lang="en-US" sz="1400" dirty="0"/>
          </a:p>
        </p:txBody>
      </p:sp>
      <p:sp>
        <p:nvSpPr>
          <p:cNvPr id="15" name="Shape 13"/>
          <p:cNvSpPr/>
          <p:nvPr/>
        </p:nvSpPr>
        <p:spPr>
          <a:xfrm>
            <a:off x="6175375" y="3532015"/>
            <a:ext cx="2520979" cy="1152583"/>
          </a:xfrm>
          <a:prstGeom prst="roundRect">
            <a:avLst>
              <a:gd name="adj" fmla="val 10743"/>
            </a:avLst>
          </a:prstGeom>
          <a:solidFill>
            <a:srgbClr val="1A1428"/>
          </a:solidFill>
          <a:ln w="6350">
            <a:solidFill>
              <a:srgbClr val="2E2444"/>
            </a:solidFill>
            <a:prstDash val="solid"/>
          </a:ln>
        </p:spPr>
      </p:sp>
      <p:sp>
        <p:nvSpPr>
          <p:cNvPr id="16" name="Text 14"/>
          <p:cNvSpPr/>
          <p:nvPr/>
        </p:nvSpPr>
        <p:spPr>
          <a:xfrm>
            <a:off x="6380884" y="3737524"/>
            <a:ext cx="2173259" cy="41653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C857"/>
                </a:solidFill>
                <a:latin typeface="Space Grotesk" pitchFamily="34" charset="0"/>
                <a:ea typeface="Space Grotesk" pitchFamily="34" charset="-122"/>
                <a:cs typeface="Space Grotesk" pitchFamily="34" charset="-120"/>
              </a:rPr>
              <a:t>3</a:t>
            </a:r>
            <a:endParaRPr lang="en-US" sz="2200" dirty="0"/>
          </a:p>
        </p:txBody>
      </p:sp>
      <p:sp>
        <p:nvSpPr>
          <p:cNvPr id="17" name="Text 15"/>
          <p:cNvSpPr/>
          <p:nvPr/>
        </p:nvSpPr>
        <p:spPr>
          <a:xfrm>
            <a:off x="6380884" y="4230226"/>
            <a:ext cx="2173259" cy="27426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7ED"/>
                </a:solidFill>
                <a:latin typeface="Space Grotesk" pitchFamily="34" charset="0"/>
                <a:ea typeface="Space Grotesk" pitchFamily="34" charset="-122"/>
                <a:cs typeface="Space Grotesk" pitchFamily="34" charset="-120"/>
              </a:rPr>
              <a:t>Share to class group</a:t>
            </a:r>
            <a:endParaRPr lang="en-US" sz="1400" dirty="0"/>
          </a:p>
        </p:txBody>
      </p:sp>
      <p:sp>
        <p:nvSpPr>
          <p:cNvPr id="18" name="Shape 16"/>
          <p:cNvSpPr/>
          <p:nvPr/>
        </p:nvSpPr>
        <p:spPr>
          <a:xfrm>
            <a:off x="8855103" y="3532015"/>
            <a:ext cx="2520979" cy="1152583"/>
          </a:xfrm>
          <a:prstGeom prst="roundRect">
            <a:avLst>
              <a:gd name="adj" fmla="val 10743"/>
            </a:avLst>
          </a:prstGeom>
          <a:solidFill>
            <a:srgbClr val="1A1428"/>
          </a:solidFill>
          <a:ln w="6350">
            <a:solidFill>
              <a:srgbClr val="2E2444"/>
            </a:solidFill>
            <a:prstDash val="solid"/>
          </a:ln>
        </p:spPr>
      </p:sp>
      <p:sp>
        <p:nvSpPr>
          <p:cNvPr id="19" name="Text 17"/>
          <p:cNvSpPr/>
          <p:nvPr/>
        </p:nvSpPr>
        <p:spPr>
          <a:xfrm>
            <a:off x="9060612" y="3737524"/>
            <a:ext cx="2173259" cy="41653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C857"/>
                </a:solidFill>
                <a:latin typeface="Space Grotesk" pitchFamily="34" charset="0"/>
                <a:ea typeface="Space Grotesk" pitchFamily="34" charset="-122"/>
                <a:cs typeface="Space Grotesk" pitchFamily="34" charset="-120"/>
              </a:rPr>
              <a:t>4</a:t>
            </a:r>
            <a:endParaRPr lang="en-US" sz="2200" dirty="0"/>
          </a:p>
        </p:txBody>
      </p:sp>
      <p:sp>
        <p:nvSpPr>
          <p:cNvPr id="20" name="Text 18"/>
          <p:cNvSpPr/>
          <p:nvPr/>
        </p:nvSpPr>
        <p:spPr>
          <a:xfrm>
            <a:off x="9060612" y="4230226"/>
            <a:ext cx="2173259" cy="27426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7ED"/>
                </a:solidFill>
                <a:latin typeface="Space Grotesk" pitchFamily="34" charset="0"/>
                <a:ea typeface="Space Grotesk" pitchFamily="34" charset="-122"/>
                <a:cs typeface="Space Grotesk" pitchFamily="34" charset="-120"/>
              </a:rPr>
              <a:t>Friends register, repeat</a:t>
            </a:r>
            <a:endParaRPr lang="en-US" sz="1400" dirty="0"/>
          </a:p>
        </p:txBody>
      </p:sp>
      <p:sp>
        <p:nvSpPr>
          <p:cNvPr id="21" name="Text 19"/>
          <p:cNvSpPr/>
          <p:nvPr/>
        </p:nvSpPr>
        <p:spPr>
          <a:xfrm>
            <a:off x="812742" y="6238268"/>
            <a:ext cx="108833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93AB"/>
                </a:solidFill>
                <a:latin typeface="Space Grotesk" pitchFamily="34" charset="0"/>
                <a:ea typeface="Space Grotesk" pitchFamily="34" charset="-122"/>
                <a:cs typeface="Space Grotesk" pitchFamily="34" charset="-120"/>
              </a:rPr>
              <a:t>Goal: each of 50–80 seed students brings in more than one friend (K above 1, to be tested) · 2 / 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B1A"/>
        </a:solidFill>
      </p:bgPr>
    </p:bg>
    <p:spTree>
      <p:nvGrpSpPr>
        <p:cNvPr id="1" name=""/>
        <p:cNvGrpSpPr/>
        <p:nvPr/>
      </p:nvGrpSpPr>
      <p:grpSpPr>
        <a:xfrm>
          <a:off x="0" y="0"/>
          <a:ext cx="0" cy="0"/>
          <a:chOff x="0" y="0"/>
          <a:chExt cx="0" cy="0"/>
        </a:xfrm>
      </p:grpSpPr>
      <p:sp>
        <p:nvSpPr>
          <p:cNvPr id="2" name="Text 0"/>
          <p:cNvSpPr/>
          <p:nvPr>
            <p:ph type="title"/>
          </p:nvPr>
        </p:nvSpPr>
        <p:spPr>
          <a:xfrm>
            <a:off x="812742" y="812743"/>
            <a:ext cx="1088351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F7ED"/>
                </a:solidFill>
                <a:latin typeface="Space Grotesk" pitchFamily="34" charset="0"/>
                <a:ea typeface="Space Grotesk" pitchFamily="34" charset="-122"/>
                <a:cs typeface="Space Grotesk" pitchFamily="34" charset="-120"/>
              </a:rPr>
              <a:t>Three channels, in priority order</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3826" y="1631546"/>
          <a:ext cx="10555258" cy="3315739"/>
        </p:xfrm>
        <a:graphic>
          <a:graphicData uri="http://schemas.openxmlformats.org/drawingml/2006/table">
            <a:tbl>
              <a:tblPr/>
              <a:tblGrid>
                <a:gridCol w="2638815"/>
                <a:gridCol w="2638815"/>
                <a:gridCol w="2638815"/>
                <a:gridCol w="2638815"/>
              </a:tblGrid>
              <a:tr h="513830">
                <a:tc>
                  <a:txBody>
                    <a:bodyPr/>
                    <a:lstStyle/>
                    <a:p>
                      <a:pPr indent="0" marL="0">
                        <a:lnSpc>
                          <a:spcPts val="1960"/>
                        </a:lnSpc>
                        <a:buNone/>
                      </a:pPr>
                      <a:r>
                        <a:rPr lang="en-US" sz="1400" b="1" dirty="0">
                          <a:solidFill>
                            <a:srgbClr val="FF6B35"/>
                          </a:solidFill>
                          <a:latin typeface="Space Grotesk" pitchFamily="34" charset="0"/>
                          <a:ea typeface="Space Grotesk" pitchFamily="34" charset="-122"/>
                          <a:cs typeface="Space Grotesk" pitchFamily="34" charset="-120"/>
                        </a:rPr>
                        <a:t>CHANNEL</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524E58"/>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524E58"/>
                      </a:solidFill>
                      <a:prstDash val="solid"/>
                      <a:round/>
                      <a:headEnd type="none" w="med" len="med"/>
                      <a:tailEnd type="none" w="med" len="med"/>
                    </a:lnB>
                    <a:solidFill>
                      <a:srgbClr val="221E2C"/>
                    </a:solidFill>
                  </a:tcPr>
                </a:tc>
                <a:tc>
                  <a:txBody>
                    <a:bodyPr/>
                    <a:lstStyle/>
                    <a:p>
                      <a:pPr indent="0" marL="0">
                        <a:lnSpc>
                          <a:spcPts val="1960"/>
                        </a:lnSpc>
                        <a:buNone/>
                      </a:pPr>
                      <a:r>
                        <a:rPr lang="en-US" sz="1400" b="1" dirty="0">
                          <a:solidFill>
                            <a:srgbClr val="FF6B35"/>
                          </a:solidFill>
                          <a:latin typeface="Space Grotesk" pitchFamily="34" charset="0"/>
                          <a:ea typeface="Space Grotesk" pitchFamily="34" charset="-122"/>
                          <a:cs typeface="Space Grotesk" pitchFamily="34" charset="-120"/>
                        </a:rPr>
                        <a:t>WHAT I DO</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524E58"/>
                      </a:solidFill>
                      <a:prstDash val="solid"/>
                      <a:round/>
                      <a:headEnd type="none" w="med" len="med"/>
                      <a:tailEnd type="none" w="med" len="med"/>
                    </a:lnL>
                    <a:lnR w="12700" cap="flat" cmpd="sng" algn="ctr">
                      <a:solidFill>
                        <a:srgbClr val="524E58"/>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524E58"/>
                      </a:solidFill>
                      <a:prstDash val="solid"/>
                      <a:round/>
                      <a:headEnd type="none" w="med" len="med"/>
                      <a:tailEnd type="none" w="med" len="med"/>
                    </a:lnB>
                    <a:solidFill>
                      <a:srgbClr val="221E2C"/>
                    </a:solidFill>
                  </a:tcPr>
                </a:tc>
                <a:tc>
                  <a:txBody>
                    <a:bodyPr/>
                    <a:lstStyle/>
                    <a:p>
                      <a:pPr indent="0" marL="0">
                        <a:lnSpc>
                          <a:spcPts val="1960"/>
                        </a:lnSpc>
                        <a:buNone/>
                      </a:pPr>
                      <a:r>
                        <a:rPr lang="en-US" sz="1400" b="1" dirty="0">
                          <a:solidFill>
                            <a:srgbClr val="FF6B35"/>
                          </a:solidFill>
                          <a:latin typeface="Space Grotesk" pitchFamily="34" charset="0"/>
                          <a:ea typeface="Space Grotesk" pitchFamily="34" charset="-122"/>
                          <a:cs typeface="Space Grotesk" pitchFamily="34" charset="-120"/>
                        </a:rPr>
                        <a:t>TARGET</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524E58"/>
                      </a:solidFill>
                      <a:prstDash val="solid"/>
                      <a:round/>
                      <a:headEnd type="none" w="med" len="med"/>
                      <a:tailEnd type="none" w="med" len="med"/>
                    </a:lnL>
                    <a:lnR w="12700" cap="flat" cmpd="sng" algn="ctr">
                      <a:solidFill>
                        <a:srgbClr val="524E58"/>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524E58"/>
                      </a:solidFill>
                      <a:prstDash val="solid"/>
                      <a:round/>
                      <a:headEnd type="none" w="med" len="med"/>
                      <a:tailEnd type="none" w="med" len="med"/>
                    </a:lnB>
                    <a:solidFill>
                      <a:srgbClr val="221E2C"/>
                    </a:solidFill>
                  </a:tcPr>
                </a:tc>
                <a:tc>
                  <a:txBody>
                    <a:bodyPr/>
                    <a:lstStyle/>
                    <a:p>
                      <a:pPr indent="0" marL="0">
                        <a:lnSpc>
                          <a:spcPts val="1960"/>
                        </a:lnSpc>
                        <a:buNone/>
                      </a:pPr>
                      <a:r>
                        <a:rPr lang="en-US" sz="1400" b="1" dirty="0">
                          <a:solidFill>
                            <a:srgbClr val="FF6B35"/>
                          </a:solidFill>
                          <a:latin typeface="Space Grotesk" pitchFamily="34" charset="0"/>
                          <a:ea typeface="Space Grotesk" pitchFamily="34" charset="-122"/>
                          <a:cs typeface="Space Grotesk" pitchFamily="34" charset="-120"/>
                        </a:rPr>
                        <a:t>BUDGET</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524E58"/>
                      </a:solidFill>
                      <a:prstDash val="solid"/>
                      <a:round/>
                      <a:headEnd type="none" w="med" len="med"/>
                      <a:tailEnd type="none" w="med" len="med"/>
                    </a:lnL>
                    <a:lnR w="12700" cap="flat" cmpd="sng" algn="ctr">
                      <a:solidFill>
                        <a:srgbClr val="524E58"/>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524E58"/>
                      </a:solidFill>
                      <a:prstDash val="solid"/>
                      <a:round/>
                      <a:headEnd type="none" w="med" len="med"/>
                      <a:tailEnd type="none" w="med" len="med"/>
                    </a:lnB>
                    <a:solidFill>
                      <a:srgbClr val="221E2C"/>
                    </a:solidFill>
                  </a:tcPr>
                </a:tc>
              </a:tr>
              <a:tr h="1011555">
                <a:tc>
                  <a:txBody>
                    <a:bodyPr/>
                    <a:lstStyle/>
                    <a:p>
                      <a:pPr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P0 · WhatsApp groups</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524E58"/>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c>
                  <a:txBody>
                    <a:bodyPr/>
                    <a:lstStyle/>
                    <a:p>
                      <a:pPr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Brief 30 club leads and class reps with a forward-ready message</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524E58"/>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c>
                  <a:txBody>
                    <a:bodyPr/>
                    <a:lstStyle/>
                    <a:p>
                      <a:pPr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350</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524E58"/>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c>
                  <a:txBody>
                    <a:bodyPr/>
                    <a:lstStyle/>
                    <a:p>
                      <a:pPr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₹500</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524E58"/>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r>
              <a:tr h="762693">
                <a:tc>
                  <a:txBody>
                    <a:bodyPr/>
                    <a:lstStyle/>
                    <a:p>
                      <a:pPr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P1 · LinkedIn organic</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c>
                  <a:txBody>
                    <a:bodyPr/>
                    <a:lstStyle/>
                    <a:p>
                      <a:pPr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Placement reality-check posts and club DMs</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c>
                  <a:txBody>
                    <a:bodyPr/>
                    <a:lstStyle/>
                    <a:p>
                      <a:pPr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90</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c>
                  <a:txBody>
                    <a:bodyPr/>
                    <a:lstStyle/>
                    <a:p>
                      <a:pPr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₹0</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r>
              <a:tr h="513830">
                <a:tc>
                  <a:txBody>
                    <a:bodyPr/>
                    <a:lstStyle/>
                    <a:p>
                      <a:pPr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P2 · Instagram Reels</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c>
                  <a:txBody>
                    <a:bodyPr/>
                    <a:lstStyle/>
                    <a:p>
                      <a:pPr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Two short hooks, boosted</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c>
                  <a:txBody>
                    <a:bodyPr/>
                    <a:lstStyle/>
                    <a:p>
                      <a:pPr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70</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c>
                  <a:txBody>
                    <a:bodyPr/>
                    <a:lstStyle/>
                    <a:p>
                      <a:pPr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₹1,500</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r>
              <a:tr h="513830">
                <a:tc>
                  <a:txBody>
                    <a:bodyPr/>
                    <a:lstStyle/>
                    <a:p>
                      <a:pPr indent="0" marL="0">
                        <a:lnSpc>
                          <a:spcPts val="1960"/>
                        </a:lnSpc>
                        <a:buNone/>
                      </a:pPr>
                      <a:r>
                        <a:rPr lang="en-US" sz="1400" dirty="0">
                          <a:solidFill>
                            <a:srgbClr val="FFC857"/>
                          </a:solidFill>
                          <a:latin typeface="Space Grotesk" pitchFamily="34" charset="0"/>
                          <a:ea typeface="Space Grotesk" pitchFamily="34" charset="-122"/>
                          <a:cs typeface="Space Grotesk" pitchFamily="34" charset="-120"/>
                        </a:rPr>
                        <a:t>Total</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c>
                  <a:txBody>
                    <a:bodyPr/>
                    <a:lstStyle/>
                    <a:p>
                      <a:pPr indent="0" marL="0">
                        <a:lnSpc>
                          <a:spcPts val="1960"/>
                        </a:lnSpc>
                        <a:buNone/>
                      </a:pP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c>
                  <a:txBody>
                    <a:bodyPr/>
                    <a:lstStyle/>
                    <a:p>
                      <a:pPr indent="0" marL="0">
                        <a:lnSpc>
                          <a:spcPts val="1960"/>
                        </a:lnSpc>
                        <a:buNone/>
                      </a:pPr>
                      <a:r>
                        <a:rPr lang="en-US" sz="1400" dirty="0">
                          <a:solidFill>
                            <a:srgbClr val="FFC857"/>
                          </a:solidFill>
                          <a:latin typeface="Space Grotesk" pitchFamily="34" charset="0"/>
                          <a:ea typeface="Space Grotesk" pitchFamily="34" charset="-122"/>
                          <a:cs typeface="Space Grotesk" pitchFamily="34" charset="-120"/>
                        </a:rPr>
                        <a:t>510</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c>
                  <a:txBody>
                    <a:bodyPr/>
                    <a:lstStyle/>
                    <a:p>
                      <a:pPr indent="0" marL="0">
                        <a:lnSpc>
                          <a:spcPts val="1960"/>
                        </a:lnSpc>
                        <a:buNone/>
                      </a:pPr>
                      <a:r>
                        <a:rPr lang="en-US" sz="1400" dirty="0">
                          <a:solidFill>
                            <a:srgbClr val="FFC857"/>
                          </a:solidFill>
                          <a:latin typeface="Space Grotesk" pitchFamily="34" charset="0"/>
                          <a:ea typeface="Space Grotesk" pitchFamily="34" charset="-122"/>
                          <a:cs typeface="Space Grotesk" pitchFamily="34" charset="-120"/>
                        </a:rPr>
                        <a:t>₹2,000</a:t>
                      </a:r>
                      <a:endParaRPr lang="en-US" sz="1400" dirty="0">
                        <a:latin typeface="Space Grotesk" charset="0"/>
                        <a:ea typeface="Space Grotesk" charset="0"/>
                        <a:cs typeface="Space Grotesk" charset="0"/>
                      </a:endParaRPr>
                    </a:p>
                  </a:txBody>
                  <a:tcPr marL="127000" marR="127000" marT="127000" marB="127000" anchor="t">
                    <a:lnL w="12700" cap="flat" cmpd="sng" algn="ctr">
                      <a:solidFill>
                        <a:srgbClr val="433F4A"/>
                      </a:solidFill>
                      <a:prstDash val="solid"/>
                      <a:round/>
                      <a:headEnd type="none" w="med" len="med"/>
                      <a:tailEnd type="none" w="med" len="med"/>
                    </a:lnL>
                    <a:lnR w="12700" cap="flat" cmpd="sng" algn="ctr">
                      <a:solidFill>
                        <a:srgbClr val="433F4A"/>
                      </a:solidFill>
                      <a:prstDash val="solid"/>
                      <a:round/>
                      <a:headEnd type="none" w="med" len="med"/>
                      <a:tailEnd type="none" w="med" len="med"/>
                    </a:lnR>
                    <a:lnT w="12700" cap="flat" cmpd="sng" algn="ctr">
                      <a:solidFill>
                        <a:srgbClr val="433F4A"/>
                      </a:solidFill>
                      <a:prstDash val="solid"/>
                      <a:round/>
                      <a:headEnd type="none" w="med" len="med"/>
                      <a:tailEnd type="none" w="med" len="med"/>
                    </a:lnT>
                    <a:lnB w="12700" cap="flat" cmpd="sng" algn="ctr">
                      <a:solidFill>
                        <a:srgbClr val="433F4A"/>
                      </a:solidFill>
                      <a:prstDash val="solid"/>
                      <a:round/>
                      <a:headEnd type="none" w="med" len="med"/>
                      <a:tailEnd type="none" w="med" len="med"/>
                    </a:lnB>
                  </a:tcPr>
                </a:tc>
              </a:tr>
            </a:tbl>
          </a:graphicData>
        </a:graphic>
      </p:graphicFrame>
      <p:sp>
        <p:nvSpPr>
          <p:cNvPr id="4" name="Text 1"/>
          <p:cNvSpPr/>
          <p:nvPr/>
        </p:nvSpPr>
        <p:spPr>
          <a:xfrm>
            <a:off x="812742" y="6238269"/>
            <a:ext cx="108833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93AB"/>
                </a:solidFill>
                <a:latin typeface="Space Grotesk" pitchFamily="34" charset="0"/>
                <a:ea typeface="Space Grotesk" pitchFamily="34" charset="-122"/>
                <a:cs typeface="Space Grotesk" pitchFamily="34" charset="-120"/>
              </a:rPr>
              <a:t>WhatsApp budget covers small digital rewards only. Channel targets are assumptions to validate in week 1 · 3 / 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B1A"/>
        </a:solidFill>
      </p:bgPr>
    </p:bg>
    <p:spTree>
      <p:nvGrpSpPr>
        <p:cNvPr id="1" name=""/>
        <p:cNvGrpSpPr/>
        <p:nvPr/>
      </p:nvGrpSpPr>
      <p:grpSpPr>
        <a:xfrm>
          <a:off x="0" y="0"/>
          <a:ext cx="0" cy="0"/>
          <a:chOff x="0" y="0"/>
          <a:chExt cx="0" cy="0"/>
        </a:xfrm>
      </p:grpSpPr>
      <p:sp>
        <p:nvSpPr>
          <p:cNvPr id="2" name="Text 0"/>
          <p:cNvSpPr/>
          <p:nvPr>
            <p:ph type="title"/>
          </p:nvPr>
        </p:nvSpPr>
        <p:spPr>
          <a:xfrm>
            <a:off x="812742" y="812743"/>
            <a:ext cx="1088351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F7ED"/>
                </a:solidFill>
                <a:latin typeface="Space Grotesk" pitchFamily="34" charset="0"/>
                <a:ea typeface="Space Grotesk" pitchFamily="34" charset="-122"/>
                <a:cs typeface="Space Grotesk" pitchFamily="34" charset="-120"/>
              </a:rPr>
              <a:t>7-day plan with daily targets</a:t>
            </a:r>
            <a:endParaRPr lang="en-US" sz="3600" dirty="0"/>
          </a:p>
        </p:txBody>
      </p:sp>
      <p:sp>
        <p:nvSpPr>
          <p:cNvPr id="3" name="Shape 1"/>
          <p:cNvSpPr/>
          <p:nvPr/>
        </p:nvSpPr>
        <p:spPr>
          <a:xfrm>
            <a:off x="815917" y="1623637"/>
            <a:ext cx="2520979" cy="2262418"/>
          </a:xfrm>
          <a:prstGeom prst="roundRect">
            <a:avLst>
              <a:gd name="adj" fmla="val 5473"/>
            </a:avLst>
          </a:prstGeom>
          <a:solidFill>
            <a:srgbClr val="1A1428"/>
          </a:solidFill>
          <a:ln w="6350">
            <a:solidFill>
              <a:srgbClr val="2E2444"/>
            </a:solidFill>
            <a:prstDash val="solid"/>
          </a:ln>
        </p:spPr>
      </p:sp>
      <p:sp>
        <p:nvSpPr>
          <p:cNvPr id="4" name="Text 2"/>
          <p:cNvSpPr/>
          <p:nvPr/>
        </p:nvSpPr>
        <p:spPr>
          <a:xfrm>
            <a:off x="1072255" y="1879975"/>
            <a:ext cx="2068552" cy="20828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FF6B35"/>
                </a:solidFill>
                <a:latin typeface="Space Grotesk" pitchFamily="34" charset="0"/>
                <a:ea typeface="Space Grotesk" pitchFamily="34" charset="-122"/>
                <a:cs typeface="Space Grotesk" pitchFamily="34" charset="-120"/>
              </a:rPr>
              <a:t>DAYS 1–2</a:t>
            </a:r>
            <a:endParaRPr lang="en-US" sz="1200" dirty="0"/>
          </a:p>
        </p:txBody>
      </p:sp>
      <p:sp>
        <p:nvSpPr>
          <p:cNvPr id="5" name="Text 3"/>
          <p:cNvSpPr/>
          <p:nvPr/>
        </p:nvSpPr>
        <p:spPr>
          <a:xfrm>
            <a:off x="1072255" y="2164426"/>
            <a:ext cx="206855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7ED"/>
                </a:solidFill>
                <a:latin typeface="Space Grotesk" pitchFamily="34" charset="0"/>
                <a:ea typeface="Space Grotesk" pitchFamily="34" charset="-122"/>
                <a:cs typeface="Space Grotesk" pitchFamily="34" charset="-120"/>
              </a:rPr>
              <a:t>Seed</a:t>
            </a:r>
            <a:endParaRPr lang="en-US" sz="1500" dirty="0"/>
          </a:p>
        </p:txBody>
      </p:sp>
      <p:sp>
        <p:nvSpPr>
          <p:cNvPr id="6" name="Text 4"/>
          <p:cNvSpPr/>
          <p:nvPr/>
        </p:nvSpPr>
        <p:spPr>
          <a:xfrm>
            <a:off x="1072255" y="2532698"/>
            <a:ext cx="2068552" cy="52312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Brief ambassadors, launch in class groups.</a:t>
            </a:r>
            <a:endParaRPr lang="en-US" sz="1400" dirty="0"/>
          </a:p>
        </p:txBody>
      </p:sp>
      <p:sp>
        <p:nvSpPr>
          <p:cNvPr id="7" name="Text 5"/>
          <p:cNvSpPr/>
          <p:nvPr/>
        </p:nvSpPr>
        <p:spPr>
          <a:xfrm>
            <a:off x="1072255" y="3131993"/>
            <a:ext cx="2068552" cy="27426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C857"/>
                </a:solidFill>
                <a:latin typeface="Space Grotesk" pitchFamily="34" charset="0"/>
                <a:ea typeface="Space Grotesk" pitchFamily="34" charset="-122"/>
                <a:cs typeface="Space Grotesk" pitchFamily="34" charset="-120"/>
              </a:rPr>
              <a:t>Target: 80</a:t>
            </a:r>
            <a:endParaRPr lang="en-US" sz="1400" dirty="0"/>
          </a:p>
        </p:txBody>
      </p:sp>
      <p:sp>
        <p:nvSpPr>
          <p:cNvPr id="8" name="Shape 6"/>
          <p:cNvSpPr/>
          <p:nvPr/>
        </p:nvSpPr>
        <p:spPr>
          <a:xfrm>
            <a:off x="3495646" y="1623637"/>
            <a:ext cx="2520979" cy="2262418"/>
          </a:xfrm>
          <a:prstGeom prst="roundRect">
            <a:avLst>
              <a:gd name="adj" fmla="val 5473"/>
            </a:avLst>
          </a:prstGeom>
          <a:solidFill>
            <a:srgbClr val="1A1428"/>
          </a:solidFill>
          <a:ln w="6350">
            <a:solidFill>
              <a:srgbClr val="2E2444"/>
            </a:solidFill>
            <a:prstDash val="solid"/>
          </a:ln>
        </p:spPr>
      </p:sp>
      <p:sp>
        <p:nvSpPr>
          <p:cNvPr id="9" name="Text 7"/>
          <p:cNvSpPr/>
          <p:nvPr/>
        </p:nvSpPr>
        <p:spPr>
          <a:xfrm>
            <a:off x="3751984" y="1879975"/>
            <a:ext cx="2068552" cy="20828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FF6B35"/>
                </a:solidFill>
                <a:latin typeface="Space Grotesk" pitchFamily="34" charset="0"/>
                <a:ea typeface="Space Grotesk" pitchFamily="34" charset="-122"/>
                <a:cs typeface="Space Grotesk" pitchFamily="34" charset="-120"/>
              </a:rPr>
              <a:t>DAYS 3–4</a:t>
            </a:r>
            <a:endParaRPr lang="en-US" sz="1200" dirty="0"/>
          </a:p>
        </p:txBody>
      </p:sp>
      <p:sp>
        <p:nvSpPr>
          <p:cNvPr id="10" name="Text 8"/>
          <p:cNvSpPr/>
          <p:nvPr/>
        </p:nvSpPr>
        <p:spPr>
          <a:xfrm>
            <a:off x="3751984" y="2164426"/>
            <a:ext cx="206855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7ED"/>
                </a:solidFill>
                <a:latin typeface="Space Grotesk" pitchFamily="34" charset="0"/>
                <a:ea typeface="Space Grotesk" pitchFamily="34" charset="-122"/>
                <a:cs typeface="Space Grotesk" pitchFamily="34" charset="-120"/>
              </a:rPr>
              <a:t>Social proof</a:t>
            </a:r>
            <a:endParaRPr lang="en-US" sz="1500" dirty="0"/>
          </a:p>
        </p:txBody>
      </p:sp>
      <p:sp>
        <p:nvSpPr>
          <p:cNvPr id="11" name="Text 9"/>
          <p:cNvSpPr/>
          <p:nvPr/>
        </p:nvSpPr>
        <p:spPr>
          <a:xfrm>
            <a:off x="3751984" y="2532698"/>
            <a:ext cx="2068552" cy="77198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Share live count, leaderboard, LinkedIn posts.</a:t>
            </a:r>
            <a:endParaRPr lang="en-US" sz="1400" dirty="0"/>
          </a:p>
        </p:txBody>
      </p:sp>
      <p:sp>
        <p:nvSpPr>
          <p:cNvPr id="12" name="Text 10"/>
          <p:cNvSpPr/>
          <p:nvPr/>
        </p:nvSpPr>
        <p:spPr>
          <a:xfrm>
            <a:off x="3751984" y="3380856"/>
            <a:ext cx="2068552" cy="27426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C857"/>
                </a:solidFill>
                <a:latin typeface="Space Grotesk" pitchFamily="34" charset="0"/>
                <a:ea typeface="Space Grotesk" pitchFamily="34" charset="-122"/>
                <a:cs typeface="Space Grotesk" pitchFamily="34" charset="-120"/>
              </a:rPr>
              <a:t>Target: 250</a:t>
            </a:r>
            <a:endParaRPr lang="en-US" sz="1400" dirty="0"/>
          </a:p>
        </p:txBody>
      </p:sp>
      <p:sp>
        <p:nvSpPr>
          <p:cNvPr id="13" name="Shape 11"/>
          <p:cNvSpPr/>
          <p:nvPr/>
        </p:nvSpPr>
        <p:spPr>
          <a:xfrm>
            <a:off x="6175375" y="1623637"/>
            <a:ext cx="2520979" cy="2262418"/>
          </a:xfrm>
          <a:prstGeom prst="roundRect">
            <a:avLst>
              <a:gd name="adj" fmla="val 5473"/>
            </a:avLst>
          </a:prstGeom>
          <a:solidFill>
            <a:srgbClr val="1A1428"/>
          </a:solidFill>
          <a:ln w="6350">
            <a:solidFill>
              <a:srgbClr val="2E2444"/>
            </a:solidFill>
            <a:prstDash val="solid"/>
          </a:ln>
        </p:spPr>
      </p:sp>
      <p:sp>
        <p:nvSpPr>
          <p:cNvPr id="14" name="Text 12"/>
          <p:cNvSpPr/>
          <p:nvPr/>
        </p:nvSpPr>
        <p:spPr>
          <a:xfrm>
            <a:off x="6431712" y="1879975"/>
            <a:ext cx="2068552" cy="20828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FF6B35"/>
                </a:solidFill>
                <a:latin typeface="Space Grotesk" pitchFamily="34" charset="0"/>
                <a:ea typeface="Space Grotesk" pitchFamily="34" charset="-122"/>
                <a:cs typeface="Space Grotesk" pitchFamily="34" charset="-120"/>
              </a:rPr>
              <a:t>DAYS 5–6</a:t>
            </a:r>
            <a:endParaRPr lang="en-US" sz="1200" dirty="0"/>
          </a:p>
        </p:txBody>
      </p:sp>
      <p:sp>
        <p:nvSpPr>
          <p:cNvPr id="15" name="Text 13"/>
          <p:cNvSpPr/>
          <p:nvPr/>
        </p:nvSpPr>
        <p:spPr>
          <a:xfrm>
            <a:off x="6431712" y="2164426"/>
            <a:ext cx="206855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7ED"/>
                </a:solidFill>
                <a:latin typeface="Space Grotesk" pitchFamily="34" charset="0"/>
                <a:ea typeface="Space Grotesk" pitchFamily="34" charset="-122"/>
                <a:cs typeface="Space Grotesk" pitchFamily="34" charset="-120"/>
              </a:rPr>
              <a:t>Urgency</a:t>
            </a:r>
            <a:endParaRPr lang="en-US" sz="1500" dirty="0"/>
          </a:p>
        </p:txBody>
      </p:sp>
      <p:sp>
        <p:nvSpPr>
          <p:cNvPr id="16" name="Text 14"/>
          <p:cNvSpPr/>
          <p:nvPr/>
        </p:nvSpPr>
        <p:spPr>
          <a:xfrm>
            <a:off x="6431712" y="2532698"/>
            <a:ext cx="2068552" cy="77198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Seat-cap messages, boosted Reels, referral rewards.</a:t>
            </a:r>
            <a:endParaRPr lang="en-US" sz="1400" dirty="0"/>
          </a:p>
        </p:txBody>
      </p:sp>
      <p:sp>
        <p:nvSpPr>
          <p:cNvPr id="17" name="Text 15"/>
          <p:cNvSpPr/>
          <p:nvPr/>
        </p:nvSpPr>
        <p:spPr>
          <a:xfrm>
            <a:off x="6431712" y="3380856"/>
            <a:ext cx="2068552" cy="27426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C857"/>
                </a:solidFill>
                <a:latin typeface="Space Grotesk" pitchFamily="34" charset="0"/>
                <a:ea typeface="Space Grotesk" pitchFamily="34" charset="-122"/>
                <a:cs typeface="Space Grotesk" pitchFamily="34" charset="-120"/>
              </a:rPr>
              <a:t>Target: 430</a:t>
            </a:r>
            <a:endParaRPr lang="en-US" sz="1400" dirty="0"/>
          </a:p>
        </p:txBody>
      </p:sp>
      <p:sp>
        <p:nvSpPr>
          <p:cNvPr id="18" name="Shape 16"/>
          <p:cNvSpPr/>
          <p:nvPr/>
        </p:nvSpPr>
        <p:spPr>
          <a:xfrm>
            <a:off x="8855103" y="1623637"/>
            <a:ext cx="2520979" cy="2262418"/>
          </a:xfrm>
          <a:prstGeom prst="roundRect">
            <a:avLst>
              <a:gd name="adj" fmla="val 5473"/>
            </a:avLst>
          </a:prstGeom>
          <a:solidFill>
            <a:srgbClr val="1A1428"/>
          </a:solidFill>
          <a:ln w="6350">
            <a:solidFill>
              <a:srgbClr val="2E2444"/>
            </a:solidFill>
            <a:prstDash val="solid"/>
          </a:ln>
        </p:spPr>
      </p:sp>
      <p:sp>
        <p:nvSpPr>
          <p:cNvPr id="19" name="Text 17"/>
          <p:cNvSpPr/>
          <p:nvPr/>
        </p:nvSpPr>
        <p:spPr>
          <a:xfrm>
            <a:off x="9111442" y="1879975"/>
            <a:ext cx="2068552" cy="20828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FF6B35"/>
                </a:solidFill>
                <a:latin typeface="Space Grotesk" pitchFamily="34" charset="0"/>
                <a:ea typeface="Space Grotesk" pitchFamily="34" charset="-122"/>
                <a:cs typeface="Space Grotesk" pitchFamily="34" charset="-120"/>
              </a:rPr>
              <a:t>DAY 7</a:t>
            </a:r>
            <a:endParaRPr lang="en-US" sz="1200" dirty="0"/>
          </a:p>
        </p:txBody>
      </p:sp>
      <p:sp>
        <p:nvSpPr>
          <p:cNvPr id="20" name="Text 18"/>
          <p:cNvSpPr/>
          <p:nvPr/>
        </p:nvSpPr>
        <p:spPr>
          <a:xfrm>
            <a:off x="9111442" y="2164426"/>
            <a:ext cx="206855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7ED"/>
                </a:solidFill>
                <a:latin typeface="Space Grotesk" pitchFamily="34" charset="0"/>
                <a:ea typeface="Space Grotesk" pitchFamily="34" charset="-122"/>
                <a:cs typeface="Space Grotesk" pitchFamily="34" charset="-120"/>
              </a:rPr>
              <a:t>Final push</a:t>
            </a:r>
            <a:endParaRPr lang="en-US" sz="1500" dirty="0"/>
          </a:p>
        </p:txBody>
      </p:sp>
      <p:sp>
        <p:nvSpPr>
          <p:cNvPr id="21" name="Text 19"/>
          <p:cNvSpPr/>
          <p:nvPr/>
        </p:nvSpPr>
        <p:spPr>
          <a:xfrm>
            <a:off x="9111442" y="2532698"/>
            <a:ext cx="2068552" cy="52312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12-hour reminder to every group.</a:t>
            </a:r>
            <a:endParaRPr lang="en-US" sz="1400" dirty="0"/>
          </a:p>
        </p:txBody>
      </p:sp>
      <p:sp>
        <p:nvSpPr>
          <p:cNvPr id="22" name="Text 20"/>
          <p:cNvSpPr/>
          <p:nvPr/>
        </p:nvSpPr>
        <p:spPr>
          <a:xfrm>
            <a:off x="9111442" y="3131993"/>
            <a:ext cx="2068552" cy="27426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C857"/>
                </a:solidFill>
                <a:latin typeface="Space Grotesk" pitchFamily="34" charset="0"/>
                <a:ea typeface="Space Grotesk" pitchFamily="34" charset="-122"/>
                <a:cs typeface="Space Grotesk" pitchFamily="34" charset="-120"/>
              </a:rPr>
              <a:t>Target: 500+</a:t>
            </a:r>
            <a:endParaRPr lang="en-US" sz="1400" dirty="0"/>
          </a:p>
        </p:txBody>
      </p:sp>
      <p:sp>
        <p:nvSpPr>
          <p:cNvPr id="23" name="Text 21"/>
          <p:cNvSpPr/>
          <p:nvPr/>
        </p:nvSpPr>
        <p:spPr>
          <a:xfrm>
            <a:off x="812742" y="6238269"/>
            <a:ext cx="108833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93AB"/>
                </a:solidFill>
                <a:latin typeface="Space Grotesk" pitchFamily="34" charset="0"/>
                <a:ea typeface="Space Grotesk" pitchFamily="34" charset="-122"/>
                <a:cs typeface="Space Grotesk" pitchFamily="34" charset="-120"/>
              </a:rPr>
              <a:t>Cumulative registrations are targets · 4 / 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B1A"/>
        </a:solidFill>
      </p:bgPr>
    </p:bg>
    <p:spTree>
      <p:nvGrpSpPr>
        <p:cNvPr id="1" name=""/>
        <p:cNvGrpSpPr/>
        <p:nvPr/>
      </p:nvGrpSpPr>
      <p:grpSpPr>
        <a:xfrm>
          <a:off x="0" y="0"/>
          <a:ext cx="0" cy="0"/>
          <a:chOff x="0" y="0"/>
          <a:chExt cx="0" cy="0"/>
        </a:xfrm>
      </p:grpSpPr>
      <p:sp>
        <p:nvSpPr>
          <p:cNvPr id="2" name="Text 0"/>
          <p:cNvSpPr/>
          <p:nvPr>
            <p:ph type="title"/>
          </p:nvPr>
        </p:nvSpPr>
        <p:spPr>
          <a:xfrm>
            <a:off x="812742" y="812744"/>
            <a:ext cx="11379258"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F7ED"/>
                </a:solidFill>
                <a:latin typeface="Space Grotesk" pitchFamily="34" charset="0"/>
                <a:ea typeface="Space Grotesk" pitchFamily="34" charset="-122"/>
                <a:cs typeface="Space Grotesk" pitchFamily="34" charset="-120"/>
              </a:rPr>
              <a:t>Built: a referral engine, not just a landing page</a:t>
            </a:r>
            <a:endParaRPr lang="en-US" sz="3600" dirty="0"/>
          </a:p>
        </p:txBody>
      </p:sp>
      <p:sp>
        <p:nvSpPr>
          <p:cNvPr id="3" name="Shape 1"/>
          <p:cNvSpPr/>
          <p:nvPr/>
        </p:nvSpPr>
        <p:spPr>
          <a:xfrm>
            <a:off x="815917" y="1623637"/>
            <a:ext cx="3380393" cy="2143009"/>
          </a:xfrm>
          <a:prstGeom prst="roundRect">
            <a:avLst>
              <a:gd name="adj" fmla="val 5778"/>
            </a:avLst>
          </a:prstGeom>
          <a:solidFill>
            <a:srgbClr val="1A1428"/>
          </a:solidFill>
          <a:ln w="6350">
            <a:solidFill>
              <a:srgbClr val="2E2444"/>
            </a:solidFill>
            <a:prstDash val="solid"/>
          </a:ln>
        </p:spPr>
      </p:sp>
      <p:sp>
        <p:nvSpPr>
          <p:cNvPr id="4" name="Text 2"/>
          <p:cNvSpPr/>
          <p:nvPr/>
        </p:nvSpPr>
        <p:spPr>
          <a:xfrm>
            <a:off x="1072255" y="1879975"/>
            <a:ext cx="2953749" cy="20828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FF6B35"/>
                </a:solidFill>
                <a:latin typeface="Space Grotesk" pitchFamily="34" charset="0"/>
                <a:ea typeface="Space Grotesk" pitchFamily="34" charset="-122"/>
                <a:cs typeface="Space Grotesk" pitchFamily="34" charset="-120"/>
              </a:rPr>
              <a:t>WHAT IT DOES</a:t>
            </a:r>
            <a:endParaRPr lang="en-US" sz="1200" dirty="0"/>
          </a:p>
        </p:txBody>
      </p:sp>
      <p:sp>
        <p:nvSpPr>
          <p:cNvPr id="5" name="Text 3"/>
          <p:cNvSpPr/>
          <p:nvPr/>
        </p:nvSpPr>
        <p:spPr>
          <a:xfrm>
            <a:off x="1072255" y="2164426"/>
            <a:ext cx="2953749" cy="102084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Sign-up with six fields, instant personal link, one-tap WhatsApp share, live leaderboard, CSV export for follow-up.</a:t>
            </a:r>
            <a:endParaRPr lang="en-US" sz="1400" dirty="0"/>
          </a:p>
        </p:txBody>
      </p:sp>
      <p:sp>
        <p:nvSpPr>
          <p:cNvPr id="6" name="Text 4"/>
          <p:cNvSpPr/>
          <p:nvPr/>
        </p:nvSpPr>
        <p:spPr>
          <a:xfrm>
            <a:off x="1072255" y="3261447"/>
            <a:ext cx="2953749" cy="27426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C857"/>
                </a:solidFill>
                <a:latin typeface="Space Grotesk" pitchFamily="34" charset="0"/>
                <a:ea typeface="Space Grotesk" pitchFamily="34" charset="-122"/>
                <a:cs typeface="Space Grotesk" pitchFamily="34" charset="-120"/>
              </a:rPr>
              <a:t>Live link: [add deployed URL]</a:t>
            </a:r>
            <a:endParaRPr lang="en-US" sz="1400" dirty="0"/>
          </a:p>
        </p:txBody>
      </p:sp>
      <p:sp>
        <p:nvSpPr>
          <p:cNvPr id="7" name="Shape 5"/>
          <p:cNvSpPr/>
          <p:nvPr/>
        </p:nvSpPr>
        <p:spPr>
          <a:xfrm>
            <a:off x="4405803" y="1623637"/>
            <a:ext cx="3380393" cy="2143009"/>
          </a:xfrm>
          <a:prstGeom prst="roundRect">
            <a:avLst>
              <a:gd name="adj" fmla="val 5778"/>
            </a:avLst>
          </a:prstGeom>
          <a:solidFill>
            <a:srgbClr val="1A1428"/>
          </a:solidFill>
          <a:ln w="6350">
            <a:solidFill>
              <a:srgbClr val="2E2444"/>
            </a:solidFill>
            <a:prstDash val="solid"/>
          </a:ln>
        </p:spPr>
      </p:sp>
      <p:sp>
        <p:nvSpPr>
          <p:cNvPr id="8" name="Text 6"/>
          <p:cNvSpPr/>
          <p:nvPr/>
        </p:nvSpPr>
        <p:spPr>
          <a:xfrm>
            <a:off x="4662141" y="1879975"/>
            <a:ext cx="2953749" cy="20828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FF6B35"/>
                </a:solidFill>
                <a:latin typeface="Space Grotesk" pitchFamily="34" charset="0"/>
                <a:ea typeface="Space Grotesk" pitchFamily="34" charset="-122"/>
                <a:cs typeface="Space Grotesk" pitchFamily="34" charset="-120"/>
              </a:rPr>
              <a:t>AI IDEAS I REJECTED</a:t>
            </a:r>
            <a:endParaRPr lang="en-US" sz="1200" dirty="0"/>
          </a:p>
        </p:txBody>
      </p:sp>
      <p:sp>
        <p:nvSpPr>
          <p:cNvPr id="9" name="Text 7"/>
          <p:cNvSpPr/>
          <p:nvPr/>
        </p:nvSpPr>
        <p:spPr>
          <a:xfrm>
            <a:off x="4662141" y="2164426"/>
            <a:ext cx="2953749" cy="126971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Four paid channels: clicks cost too much. A RAG chatbot: it answers questions, it doesn’t drive sign-ups. ID-card upload: too much drop-off on mobile.</a:t>
            </a:r>
            <a:endParaRPr lang="en-US" sz="1400" dirty="0"/>
          </a:p>
        </p:txBody>
      </p:sp>
      <p:sp>
        <p:nvSpPr>
          <p:cNvPr id="10" name="Shape 8"/>
          <p:cNvSpPr/>
          <p:nvPr/>
        </p:nvSpPr>
        <p:spPr>
          <a:xfrm>
            <a:off x="7995689" y="1623637"/>
            <a:ext cx="3380393" cy="2143009"/>
          </a:xfrm>
          <a:prstGeom prst="roundRect">
            <a:avLst>
              <a:gd name="adj" fmla="val 5778"/>
            </a:avLst>
          </a:prstGeom>
          <a:solidFill>
            <a:srgbClr val="1A1428"/>
          </a:solidFill>
          <a:ln w="6350">
            <a:solidFill>
              <a:srgbClr val="2E2444"/>
            </a:solidFill>
            <a:prstDash val="solid"/>
          </a:ln>
        </p:spPr>
      </p:sp>
      <p:sp>
        <p:nvSpPr>
          <p:cNvPr id="11" name="Text 9"/>
          <p:cNvSpPr/>
          <p:nvPr/>
        </p:nvSpPr>
        <p:spPr>
          <a:xfrm>
            <a:off x="8252027" y="1879975"/>
            <a:ext cx="2953749" cy="208280"/>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FF6B35"/>
                </a:solidFill>
                <a:latin typeface="Space Grotesk" pitchFamily="34" charset="0"/>
                <a:ea typeface="Space Grotesk" pitchFamily="34" charset="-122"/>
                <a:cs typeface="Space Grotesk" pitchFamily="34" charset="-120"/>
              </a:rPr>
              <a:t>WITH 24 MORE HOURS</a:t>
            </a:r>
            <a:endParaRPr lang="en-US" sz="1200" dirty="0"/>
          </a:p>
        </p:txBody>
      </p:sp>
      <p:sp>
        <p:nvSpPr>
          <p:cNvPr id="12" name="Text 10"/>
          <p:cNvSpPr/>
          <p:nvPr/>
        </p:nvSpPr>
        <p:spPr>
          <a:xfrm>
            <a:off x="8252027" y="2164426"/>
            <a:ext cx="2953749" cy="102084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DFEF"/>
                </a:solidFill>
                <a:latin typeface="Space Grotesk" pitchFamily="34" charset="0"/>
                <a:ea typeface="Space Grotesk" pitchFamily="34" charset="-122"/>
                <a:cs typeface="Space Grotesk" pitchFamily="34" charset="-120"/>
              </a:rPr>
              <a:t>Live WhatsApp and email automation, a college-vs-college leaderboard, and a 3-day reminder drip to lift attendance.</a:t>
            </a:r>
            <a:endParaRPr lang="en-US" sz="1400" dirty="0"/>
          </a:p>
        </p:txBody>
      </p:sp>
      <p:sp>
        <p:nvSpPr>
          <p:cNvPr id="13" name="Text 11"/>
          <p:cNvSpPr/>
          <p:nvPr/>
        </p:nvSpPr>
        <p:spPr>
          <a:xfrm>
            <a:off x="812742" y="6238270"/>
            <a:ext cx="108833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93AB"/>
                </a:solidFill>
                <a:latin typeface="Space Grotesk" pitchFamily="34" charset="0"/>
                <a:ea typeface="Space Grotesk" pitchFamily="34" charset="-122"/>
                <a:cs typeface="Space Grotesk" pitchFamily="34" charset="-120"/>
              </a:rPr>
              <a:t>5 / 5</a:t>
            </a:r>
            <a:endParaRPr lang="en-US" sz="1200" dirty="0"/>
          </a:p>
        </p:txBody>
      </p:sp>
    </p:spTree>
  </p:cSld>
  <p:clrMapOvr>
    <a:masterClrMapping/>
  </p:clrMapOvr>
</p:sld>
</file>

<file path=ppt/theme/theme1.xml><?xml version="1.0" encoding="utf-8"?>
<a:theme xmlns:a="http://schemas.openxmlformats.org/drawingml/2006/main" name="NxtWave Growth Plan – 500 Registrations in 7 Days">
  <a:themeElements>
    <a:clrScheme name="NxtWave Growth Plan – 500 Registrations in 7 Days">
      <a:dk1>
        <a:srgbClr val="0F0B1A"/>
      </a:dk1>
      <a:lt1>
        <a:srgbClr val="FFF7ED"/>
      </a:lt1>
      <a:dk2>
        <a:srgbClr val="27232F"/>
      </a:dk2>
      <a:lt2>
        <a:srgbClr val="C3BCB8"/>
      </a:lt2>
      <a:accent1>
        <a:srgbClr val="FF6B35"/>
      </a:accent1>
      <a:accent2>
        <a:srgbClr val="FFC857"/>
      </a:accent2>
      <a:accent3>
        <a:srgbClr val="9C93AB"/>
      </a:accent3>
      <a:accent4>
        <a:srgbClr val="9AA0A6"/>
      </a:accent4>
      <a:accent5>
        <a:srgbClr val="9F9999"/>
      </a:accent5>
      <a:accent6>
        <a:srgbClr val="7B7579"/>
      </a:accent6>
      <a:hlink>
        <a:srgbClr val="0563C1"/>
      </a:hlink>
      <a:folHlink>
        <a:srgbClr val="954F72"/>
      </a:folHlink>
    </a:clrScheme>
    <a:fontScheme name="NxtWave Growth Plan – 500 Registrations in 7 Day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NxtWave Growth Plan – 500 Registrations in 7 Days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2026-10-28T09:26:24Z</dcterms:created>
  <dcterms:modified xsi:type="dcterms:W3CDTF">2026-10-28T09:26:24Z</dcterms:modified>
</cp:coreProperties>
</file>